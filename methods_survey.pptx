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EEEEE"/>
                </a:solidFill>
                <a:latin typeface="Inter"/>
              </a:rPr>
              <a:t>Mouse-brain → CCF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AB4FF"/>
                </a:solidFill>
                <a:latin typeface="Inter"/>
              </a:rPr>
              <a:t>Methods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What exists in the literature, what works on partial-hemisphere µCT, and how each one fits into the zrot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AA6"/>
                </a:solidFill>
                <a:latin typeface="Inter"/>
              </a:rPr>
              <a:t>Alberto Mittone — APS / Argonne National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AA6"/>
                </a:solidFill>
                <a:latin typeface="Inter"/>
              </a:rPr>
              <a:t>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The task &amp; why it is non-trivial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Map a µCT mouse brain volume into the Allen CCFv3 atlas grid so downstream tools can use region labels.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Input.</a:t>
            </a:r>
            <a:r>
              <a:rPr sz="1400">
                <a:solidFill>
                  <a:srgbClr val="EEEEEE"/>
                </a:solidFill>
                <a:latin typeface="Inter"/>
              </a:rPr>
              <a:t>  Multi-TB OME-Zarr µCT volume (~2.74 µm/voxel at level 2). Often only one hemisphere or a partial brain.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Reference.</a:t>
            </a:r>
            <a:r>
              <a:rPr sz="1400">
                <a:solidFill>
                  <a:srgbClr val="EEEEEE"/>
                </a:solidFill>
                <a:latin typeface="Inter"/>
              </a:rPr>
              <a:t>  Allen Mouse Brain CCFv3, 25 µm/voxel, full brain (528×320×456).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Hard parts.</a:t>
            </a:r>
            <a:r>
              <a:rPr sz="1400">
                <a:solidFill>
                  <a:srgbClr val="EEEEEE"/>
                </a:solidFill>
                <a:latin typeface="Inter"/>
              </a:rPr>
              <a:t>  (i) cross-modality intensities (µCT looks nothing like the LSFM-derived atlas); (ii) partial samples (most tools assume a full brain or hemisphere); (iii) huge data volumes (anything that loads the full level into RAM is dead).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Method families.</a:t>
            </a:r>
            <a:r>
              <a:rPr sz="1400">
                <a:solidFill>
                  <a:srgbClr val="EEEEEE"/>
                </a:solidFill>
                <a:latin typeface="Inter"/>
              </a:rPr>
              <a:t>  intensity-driven deformable · landmark/spline-driven · deep learning · atlas-specific pipelines · interactive GUIs · slice-only tools.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Practical question.</a:t>
            </a:r>
            <a:r>
              <a:rPr sz="1400">
                <a:solidFill>
                  <a:srgbClr val="EEEEEE"/>
                </a:solidFill>
                <a:latin typeface="Inter"/>
              </a:rPr>
              <a:t>  Which one (or combination) gives the best CCF alignment for a partial-hemisphere µCT sample, in reasonable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Intensity-driven deformable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General-purpose tools, not mouse-brain-specific. Maximise an intensity similarity metric (CC, MI, MSE) over a deformation field.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ANTs SyN / SyNOnly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Avants et al. 2008 (Med Image Anal)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Diffeomorphic symmetric normalization. SyN does rigid+affine+SyN; SyNOnly skips rigid+affine and is the right choice when you have a good prealignment. Supports masks on both fixed/moving.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pip install antspyx · github.com/ANTsX/ANTs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elastix / SimpleElastix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Klein et al. 2010 (IEEE TMI)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B-spline FFD with many configurable optimizers + metrics. Wrapped in SimpleElastix (Python). Used by ClearMap2 and brainregister downstream. Mask support is explicit.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pip install SimpleITK · elastix.dev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NiftyReg (f3d, aladin)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Modat et al. 2010 (CMPB)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CUDA-accelerated B-spline registration; engine inside BrainGlobe's brainreg. Fast, but the brainreg wrapper assumes a full brain.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github.com/KCL-BMEIS/niftyreg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Greedy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Yushkevich, in ITK-SNAP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Greedy diffeomorphic, designed as a fast ANTs alternative for clinical workflows. Supports masks. Less documentation than ANTs.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github.com/pyushkevich/greedy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93192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9A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Notes for partial-hemisphere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Always pass brain masks — without them, the metric scores the empty (zero) regions around the sample as 'missing tissue' and the deformation field stretches into them. ANTs auto-masks via `ants.get_mask`.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Never combine a deformable stage with an affine that re-fits the global pose (SyN, ANTs `Affine`, NiftyReg `aladin`) — it will overwrite your prealignment. Use SyNOnly / elastix-BSpline-only.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Heavy regularization helps: bigger `flow_sigma`/`total_sigma` in ANTs, lower `FinalBSplineInterpolationOrder` in elastix, fewer iterations in coarse-to-fine schedules.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Deep-learning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CNN regresses the deformation field directly. Fast at inference; training data is the catch.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VoxelMorph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Balakrishnan et al. 2019 (IEEE TMI)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Unsupervised CNN, learns a probabilistic diffeomorphic warp. Many forks; pretrained weights exist for human MRI, less so for mouse brain.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github.com/voxelmorph/voxelmorph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SynthMorph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Hoffmann et al. 2022 (IEEE TMI)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VoxelMorph trained on synthetic images so it is contrast-invariant. More robust to µCT-vs-LSFM intensity mismatch. Still needs full-volume training data to fine-tune on partial hemispheres.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github.com/voxelmorph/voxelmorph (synthmorph branch)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mBrainAligner 3D U-Net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Qu et al. 2022 (Nat Methods)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DL component used INSIDE mBrainAligner to predict landmark positions for the CLM (Coherent Landmark Mapping) step. Not a standalone registration tool, but the network drives the half-brain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github.com/Vaa3D/vaa3d_tools/.../mBrainAligner/src/3D_U-Net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DeepReg / TransMorph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Various 2021–2024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Transformer- or attention-based registration networks. Mostly validated on human MRI; mouse-brain checkpoints are rare. Worth watching but not turnkey.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github.com/junyuchen245/TransMorph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93192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9A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Bottom line for your 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No pretrained network for µCT mouse brain → CCF exists publicly today (2026-05). Training one needs labelled pairs you do not have.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If you ever generate ~100 aligned µCT mouse brains, SynthMorph or TransMorph would be the obvious targets to fine-tune.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Until then, intensity-driven (ANTs / elastix) is more practical than DL.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Mouse-brain-specific atlas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Tools that bundle a CCF/atlas + registration engine + sample-data preprocessing into one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mBrainAligner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Qu et al. 2022 (Nat Methods)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Two-stage (global + local) with optional landmark refinement. Ships explicit half-brain target (`examples/target/half/`) and modality-specific configs. The only published tool that targets partial-hemisphere mouse brain → CCF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github.com/Vaa3D/vaa3d_tools/.../mBrainAligner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BrainGlobe brainreg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Tyson et al. 2022 (Sci Reports)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Wraps NiftyReg with the BrainGlobe atlas API. CLI-driven, easy to install, good defaults — but `--brain_geometry` only knows `full / hemisphere_l / hemisphere_r`, so partial samples distort.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pip install brainreg · brainglobe.info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brainregister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Steven J. West et al. — int-brain-lab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Wraps elastix instead of NiftyReg, otherwise similar to brainreg. Same full-brain assumption baked into the pre-shipped parameter files; you would need custom param-maps for partial samples.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github.com/int-brain-lab/brainregister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ClearMap2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Renier et al. 2016 / Kirst et al.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Whole-pipeline for cleared brain (LSFM): preprocessing + elastix + region quantification. Assumes whole brain. Useful as a reference for elastix parameter files even when not using the rest.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github.com/ChristophKirst/ClearMap2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93192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FFD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26C"/>
                </a:solidFill>
                <a:latin typeface="Inter"/>
              </a:rPr>
              <a:t>Key 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mBrainAligner is the ONLY off-the-shelf pipeline with explicit partial-hemisphere support out of the box (the `half.7z` target).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brainreg, brainregister, and ClearMap2 are all designed around full brains. Forcing a partial sample through them distorts the tissue to fill the missing atlas regions, regardless of orientation correctness.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>
                <a:solidFill>
                  <a:srgbClr val="EEEEEE"/>
                </a:solidFill>
                <a:latin typeface="Inter"/>
              </a:rPr>
              <a:t>Both brainreg and brainregister fundamentally wrap a third-party engine (NiftyReg / elastix). If you want the same engine without the full-brain assumption, drive the engine directly with your own parameter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Landmark-driven &amp; interactive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User picks corresponding points, math computes a smooth warp that satisfies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Thin-Plate Splines (TPS)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Bookstein 1989 (IEEE PAMI)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Closed-form spline that lands every landmark exactly. With few/clustered landmarks it extrapolates wildly; fit on RESIDUALS of a rigid (zrot's `--tps`) keeps the rigid valid far from landmarks.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scipy.interpolate.RBFInterpolator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3D Slicer + FRW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SlicerIGT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Polished GUI for landmark-based TPS / affine / RBF. Outlier flagging, snap-to-feature, manages hundreds of fiducials cleanly. Heavier than the zrot step3 napari panel but more capable.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slicer.org · slicerigt.org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BigWarp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Bogovic et al. 2016 (bioRxiv)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Fiji plugin for interactive TPS on very large volumes (OME-Zarr, N5, HDF5 directly). The standard tool when you want dense, hand-placed landmarks on a multi-TB stack.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E8A0"/>
                </a:solidFill>
                <a:latin typeface="JetBrains Mono"/>
              </a:rPr>
              <a:t>PARTIAL SAMPLE: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imagej.net/plugins/bigwarp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371600"/>
            <a:ext cx="2788920" cy="233172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4813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B4FF"/>
                </a:solidFill>
                <a:latin typeface="Inter"/>
              </a:rPr>
              <a:t>ABBA (Aligning Big Brains and Atlases)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828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JetBrains Mono"/>
              </a:rPr>
              <a:t>BIOP, EPFL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148840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Inter"/>
              </a:rPr>
              <a:t>Interactive whole-slide → CCF for 2D histology slices. Not a volume registration tool, but the spirit (manual prealign + elastix refine) and UI design ideas are relevant.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2918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C8A"/>
                </a:solidFill>
                <a:latin typeface="JetBrains Mono"/>
              </a:rPr>
              <a:t>PARTIAL SAMPLE: 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47472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A6"/>
                </a:solidFill>
                <a:latin typeface="JetBrains Mono"/>
              </a:rPr>
              <a:t>biop.epfl.ch/Image_ABBA.html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Slice-based tools (2D histology → CCF)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These appear in the same literature but solve a different problem — single coronal/sagittal slices, not 3D volumes.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DeepSlice.</a:t>
            </a:r>
            <a:r>
              <a:rPr sz="1400">
                <a:solidFill>
                  <a:srgbClr val="EEEEEE"/>
                </a:solidFill>
                <a:latin typeface="Inter"/>
              </a:rPr>
              <a:t>  Carey et al. 2023 — CNN predicts the CCF coronal cut + warp for a single histology slice. Outputs an angle + position in CCFv3.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QUINT workflow.</a:t>
            </a:r>
            <a:r>
              <a:rPr sz="1400">
                <a:solidFill>
                  <a:srgbClr val="EEEEEE"/>
                </a:solidFill>
                <a:latin typeface="Inter"/>
              </a:rPr>
              <a:t>  Yates et al. 2019 — three Fiji plugins (QuickNII, VisuAlign, Nutil) that manually align 2D histology to CCF for cell counting.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WholeBrain.</a:t>
            </a:r>
            <a:r>
              <a:rPr sz="1400">
                <a:solidFill>
                  <a:srgbClr val="EEEEEE"/>
                </a:solidFill>
                <a:latin typeface="Inter"/>
              </a:rPr>
              <a:t>  Fürth et al. 2018 — R package, 2D histology → CCF with interactive outline matching and per-region counting.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ABBA.</a:t>
            </a:r>
            <a:r>
              <a:rPr sz="1400">
                <a:solidFill>
                  <a:srgbClr val="EEEEEE"/>
                </a:solidFill>
                <a:latin typeface="Inter"/>
              </a:rPr>
              <a:t>  Mentioned on previous slide. 2D version of the same idea.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AMaSiNe.</a:t>
            </a:r>
            <a:r>
              <a:rPr sz="1400">
                <a:solidFill>
                  <a:srgbClr val="EEEEEE"/>
                </a:solidFill>
                <a:latin typeface="Inter"/>
              </a:rPr>
              <a:t>  Sound et al. 2021 — adapts ANTs registration to 2D slices with intermediate 3D consistency constraints.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8AB4FF"/>
                </a:solidFill>
              </a:rPr>
              <a:t>•  </a:t>
            </a:r>
            <a:r>
              <a:rPr sz="1400" b="1">
                <a:solidFill>
                  <a:srgbClr val="EEEEEE"/>
                </a:solidFill>
                <a:latin typeface="Inter"/>
              </a:rPr>
              <a:t>Relevant for you? Mostly NO.</a:t>
            </a:r>
            <a:r>
              <a:rPr sz="1400">
                <a:solidFill>
                  <a:srgbClr val="EEEEEE"/>
                </a:solidFill>
                <a:latin typeface="Inter"/>
              </a:rPr>
              <a:t>  Your input is a 3D volume; these are 2D-slice tools. They are listed here so you can recognise them when they come up in the mouse-brain registration literature and not waste time on a wrong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At-a-glance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9AA6"/>
                </a:solidFill>
                <a:latin typeface="Inter"/>
              </a:rPr>
              <a:t>Focused on what matters for partial-hemisphere µCT.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01014"/>
                </a:solidFill>
                <a:latin typeface="Inter"/>
              </a:rPr>
              <a:t>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813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01014"/>
                </a:solidFill>
                <a:latin typeface="Inter"/>
              </a:rPr>
              <a:t>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17320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01014"/>
                </a:solidFill>
                <a:latin typeface="Inter"/>
              </a:rPr>
              <a:t>Partial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813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01014"/>
                </a:solidFill>
                <a:latin typeface="Inter"/>
              </a:rPr>
              <a:t>Cross-modality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17320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8132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01014"/>
                </a:solidFill>
                <a:latin typeface="Inter"/>
              </a:rPr>
              <a:t>CLI /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801368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745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zrot rigid (step1-3)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1801368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187452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scipy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801368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87452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801368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8745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n/a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1801368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8745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CLI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185416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2585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zrot export --tps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2185416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2585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RBFInterp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2185416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2585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2185416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25856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n/a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2185416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25856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CLI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2569464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64261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zrot ants (SyNOnly)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88920" y="2569464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264261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antspyx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2569464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64261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2569464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64261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fair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2569464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264261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CLI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2953512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02666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zrot brainreg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88920" y="2953512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02666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NiftyReg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17720" y="2953512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02666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9C8A"/>
                </a:solidFill>
                <a:latin typeface="Inter"/>
              </a:rPr>
              <a:t>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2953512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02666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fair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58200" y="2953512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302666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CLI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3337560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41071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mBrainAligner (manual)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8920" y="3337560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34107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C++/Qt+CUDA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17720" y="3337560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3410712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46520" y="3337560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341071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good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58200" y="3337560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34107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binaries (legacy deps)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" y="3721608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7947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3D Slicer + FRW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88920" y="3721608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0" y="379476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ITK + TPS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17720" y="3721608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379476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46520" y="3721608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37947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n/a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58200" y="3721608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20" y="37947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GUI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4105656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1788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BigWarp (Fiji)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88920" y="4105656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4640" y="417880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ImgLib2 TPS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617720" y="4105656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0" y="417880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46520" y="4105656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417880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n/a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58200" y="4105656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20" y="417880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GUI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1480" y="4489704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56285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elastix custom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88920" y="4489704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34640" y="456285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elastix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17720" y="4489704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0" y="456285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E8A0"/>
                </a:solidFill>
                <a:latin typeface="Inter"/>
              </a:rPr>
              <a:t>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46520" y="4489704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0" y="456285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fair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458200" y="4489704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03920" y="456285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CLI / Py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1480" y="4873752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49469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VoxelMorph / SynthMorph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788920" y="4873752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34640" y="494690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PyTorch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17720" y="4873752"/>
            <a:ext cx="182880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63440" y="494690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9C8A"/>
                </a:solidFill>
                <a:latin typeface="Inter"/>
              </a:rPr>
              <a:t>✗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46520" y="4873752"/>
            <a:ext cx="201168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92240" y="494690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Inter"/>
              </a:rPr>
              <a:t>good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58200" y="4873752"/>
            <a:ext cx="3108960" cy="384048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03920" y="494690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JetBrains Mono"/>
              </a:rPr>
              <a:t>Py (needs training)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5426049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A6"/>
                </a:solidFill>
                <a:latin typeface="Inter"/>
              </a:rPr>
              <a:t>* zrot ants uses masks built from the data; works in practice but the algorithm itself has no partial-sample concept — heavy regularization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Recommended paths for your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21938" cy="502920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9CE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56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9CE8A0"/>
                </a:solidFill>
                <a:latin typeface="Inter"/>
              </a:rP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25617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9CE8A0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Stick with `zrot export` (rigid + crop) as the final.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9CE8A0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Add ≥10 well-spread landmarks in step3, then `--tps`.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9CE8A0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Acceptable when downstream task is region lookup or rough overlay (~0.4 mm error is fine for atlas IDs).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24858" y="1463040"/>
            <a:ext cx="3621938" cy="502920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7738" y="1600200"/>
            <a:ext cx="3256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8AB4FF"/>
                </a:solidFill>
                <a:latin typeface="Inter"/>
              </a:rPr>
              <a:t>Pragmatic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738" y="2148840"/>
            <a:ext cx="325617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8AB4FF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`zrot ants out/rigid` with SyNOnly + auto-masks.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8AB4FF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Intensity-driven so it can pick up structure between landmarks.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8AB4FF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5-30 min runtime. Always compare to rigid in QC viewer — accept only if it's clearly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1463040"/>
            <a:ext cx="3621938" cy="5029200"/>
          </a:xfrm>
          <a:prstGeom prst="roundRect">
            <a:avLst>
              <a:gd name="adj" fmla="val 5000"/>
            </a:avLst>
          </a:prstGeom>
          <a:solidFill>
            <a:srgbClr val="1C1C22"/>
          </a:solidFill>
          <a:ln w="12700">
            <a:solidFill>
              <a:srgbClr val="FFD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6836" y="1600200"/>
            <a:ext cx="32561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26C"/>
                </a:solidFill>
                <a:latin typeface="Inter"/>
              </a:rPr>
              <a:t>Ambitious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2148840"/>
            <a:ext cx="325617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FFD26C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More landmarks (15-30 well-spread) + `zrot export --tps`.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D26C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Or histogram-match the sample to the atlas, then aggressive ANTs (`--iter-high 100 --flow-sigma 3 --total-sigma 0`).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D26C"/>
                </a:solidFill>
              </a:rPr>
              <a:t>•  </a:t>
            </a:r>
            <a:r>
              <a:rPr sz="1300">
                <a:solidFill>
                  <a:srgbClr val="EEEEEE"/>
                </a:solidFill>
                <a:latin typeface="Inter"/>
              </a:rPr>
              <a:t>mBrainAligner (Qu et al.) targets your exact case but its binary release needs Qt4 + OpenCV 3.4 + CUDA 10.0 — install hell on modern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EEEEE"/>
                </a:solidFill>
                <a:latin typeface="Inter"/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ANTs SyN.</a:t>
            </a:r>
            <a:r>
              <a:rPr sz="1200">
                <a:solidFill>
                  <a:srgbClr val="EEEEEE"/>
                </a:solidFill>
                <a:latin typeface="Inter"/>
              </a:rPr>
              <a:t>  Avants BB et al. (2008). Symmetric diffeomorphic image registration with cross-correlation. Med Image Anal 12(1):26-41.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elastix.</a:t>
            </a:r>
            <a:r>
              <a:rPr sz="1200">
                <a:solidFill>
                  <a:srgbClr val="EEEEEE"/>
                </a:solidFill>
                <a:latin typeface="Inter"/>
              </a:rPr>
              <a:t>  Klein S et al. (2010). elastix: a toolbox for intensity-based medical image registration. IEEE TMI 29(1):196-205.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NiftyReg.</a:t>
            </a:r>
            <a:r>
              <a:rPr sz="1200">
                <a:solidFill>
                  <a:srgbClr val="EEEEEE"/>
                </a:solidFill>
                <a:latin typeface="Inter"/>
              </a:rPr>
              <a:t>  Modat M et al. (2010). Fast free-form deformation using GPUs. Comput Methods Programs Biomed 98(3):278-284.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VoxelMorph.</a:t>
            </a:r>
            <a:r>
              <a:rPr sz="1200">
                <a:solidFill>
                  <a:srgbClr val="EEEEEE"/>
                </a:solidFill>
                <a:latin typeface="Inter"/>
              </a:rPr>
              <a:t>  Balakrishnan G et al. (2019). VoxelMorph: a learning framework for deformable medical image registration. IEEE TMI 38(8):1788-1800.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SynthMorph.</a:t>
            </a:r>
            <a:r>
              <a:rPr sz="1200">
                <a:solidFill>
                  <a:srgbClr val="EEEEEE"/>
                </a:solidFill>
                <a:latin typeface="Inter"/>
              </a:rPr>
              <a:t>  Hoffmann M et al. (2022). SynthMorph: learning contrast-invariant registration without acquired images. IEEE TMI 41(3):543-558.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mBrainAligner.</a:t>
            </a:r>
            <a:r>
              <a:rPr sz="1200">
                <a:solidFill>
                  <a:srgbClr val="EEEEEE"/>
                </a:solidFill>
                <a:latin typeface="Inter"/>
              </a:rPr>
              <a:t>  Qu L et al. (2022). Cross-modal coherent registration of whole mouse brains. Nat Methods 19:111-118.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BrainGlobe brainreg.</a:t>
            </a:r>
            <a:r>
              <a:rPr sz="1200">
                <a:solidFill>
                  <a:srgbClr val="EEEEEE"/>
                </a:solidFill>
                <a:latin typeface="Inter"/>
              </a:rPr>
              <a:t>  Tyson AL et al. (2022). A deep learning algorithm for 3D cell detection in whole mouse brain image datasets. PLoS Comp Biol; brainreg in BrainGlobe tools paper, Sci Reports 12:867.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BigWarp.</a:t>
            </a:r>
            <a:r>
              <a:rPr sz="1200">
                <a:solidFill>
                  <a:srgbClr val="EEEEEE"/>
                </a:solidFill>
                <a:latin typeface="Inter"/>
              </a:rPr>
              <a:t>  Bogovic JA et al. (2016). Robust registration of calcium images by learned contrast synthesis. bioRxiv.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8AB4FF"/>
                </a:solidFill>
              </a:rPr>
              <a:t>•  </a:t>
            </a:r>
            <a:r>
              <a:rPr sz="1200" b="1">
                <a:solidFill>
                  <a:srgbClr val="EEEEEE"/>
                </a:solidFill>
                <a:latin typeface="Inter"/>
              </a:rPr>
              <a:t>Bookstein TPS.</a:t>
            </a:r>
            <a:r>
              <a:rPr sz="1200">
                <a:solidFill>
                  <a:srgbClr val="EEEEEE"/>
                </a:solidFill>
                <a:latin typeface="Inter"/>
              </a:rPr>
              <a:t>  Bookstein FL (1989). Principal warps: Thin-plate splines and the decomposition of deformations. IEEE PAMI 11(6):567-585.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