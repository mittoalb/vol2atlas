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AB4FF"/>
                </a:solidFill>
                <a:latin typeface="Inter"/>
              </a:rPr>
              <a:t>STRATEGY  •  vol2atlas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EEEEEE"/>
                </a:solidFill>
                <a:latin typeface="Inter"/>
              </a:rPr>
              <a:t>Scalable multi-modal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A9AA6"/>
                </a:solidFill>
                <a:latin typeface="Inter"/>
              </a:rPr>
              <a:t>Aligning µCT and EM volumes into Allen CCF — at GB and TB scales — through one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69080"/>
            <a:ext cx="1097280" cy="3810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6"/>
                </a:solidFill>
                <a:latin typeface="Inter"/>
              </a:rPr>
              <a:t>A. Mittone  ·  APS / Argonne National Laboratory  ·  2026-05-22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vol2atlas already handles µCT → CCF. EM is the new modality — and it is multi-TB.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1C995"/>
                </a:solidFill>
                <a:latin typeface="Inter"/>
              </a:rPr>
              <a:t>TODAY  · 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EEEEE"/>
                </a:solidFill>
                <a:latin typeface="Inter"/>
              </a:rPr>
              <a:t>µCT → Allen CCF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Sample.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µCT volume, µm-class voxels, GB scale.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Reference.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Allen CCF via BrainGlobe (atlas name).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Display.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napari with strided preview ≤ 192³.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Warp.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alignFull = chunkwise rigid, TB-safe.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Refinement.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ants / elastix on the prealigned NIfTIs.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8B82"/>
                </a:solidFill>
                <a:latin typeface="Inter"/>
              </a:rPr>
              <a:t>NEEDED  ·  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EEEEE"/>
                </a:solidFill>
                <a:latin typeface="Inter"/>
              </a:rPr>
              <a:t>EM → µCT (in CCF)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63240"/>
            <a:ext cx="4937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Sample.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EM volume, nm-class voxels — 1000× finer.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Reference.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the already-aligned µCT, not an atlas.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Scale.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TB — RAM-bound warps are impossible.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Pipeline.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must accept any reference, not just BrainGlobe.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Production warp.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must compose rigid + TPS + (later) B-spline, chunkwise.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Problem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One pipeline, two stages — chained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Stage B uses Stage A's output as its reference. Two independent runs. No two-stage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B4FF"/>
                </a:solidFill>
                <a:latin typeface="Inter"/>
              </a:rPr>
              <a:t>STAGE A   ·   µCT  →  Allen CCF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2011680" cy="8686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EEEEE"/>
                </a:solidFill>
                <a:latin typeface="Inter"/>
              </a:rPr>
              <a:t>sample_uct.zarr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05740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33172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EEEEE"/>
                </a:solidFill>
                <a:latin typeface="Inter"/>
              </a:rPr>
              <a:t>init → prealign → refine →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EEEEE"/>
                </a:solidFill>
                <a:latin typeface="Inter"/>
              </a:rPr>
              <a:t>landmarks → alignFull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05740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3172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EEEEE"/>
                </a:solidFill>
                <a:latin typeface="Inter"/>
              </a:rPr>
              <a:t>uct_in_ccf.zarr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05740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101014"/>
          </a:solidFill>
          <a:ln w="15875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3317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A9AA6"/>
                </a:solidFill>
                <a:latin typeface="Inter"/>
              </a:rPr>
              <a:t>reference: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A9AA6"/>
                </a:solidFill>
                <a:latin typeface="Inter"/>
              </a:rPr>
              <a:t>allen_mouse_25um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14600" y="2491740"/>
            <a:ext cx="274320" cy="0"/>
          </a:xfrm>
          <a:prstGeom prst="line">
            <a:avLst/>
          </a:prstGeom>
          <a:ln w="15875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46520" y="2491740"/>
            <a:ext cx="274320" cy="0"/>
          </a:xfrm>
          <a:prstGeom prst="line">
            <a:avLst/>
          </a:prstGeom>
          <a:ln w="15875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915400" y="2491740"/>
            <a:ext cx="274320" cy="0"/>
          </a:xfrm>
          <a:prstGeom prst="line">
            <a:avLst/>
          </a:prstGeom>
          <a:ln w="19050">
            <a:solidFill>
              <a:srgbClr val="FDD66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18120" y="2926080"/>
            <a:ext cx="0" cy="1143000"/>
          </a:xfrm>
          <a:prstGeom prst="line">
            <a:avLst/>
          </a:prstGeom>
          <a:ln w="25400">
            <a:solidFill>
              <a:srgbClr val="FDD66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92440" y="3246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FDD663"/>
                </a:solidFill>
                <a:latin typeface="Inter"/>
              </a:rPr>
              <a:t>uct_in_ccf  →  reference for Stage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7763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58AF9"/>
                </a:solidFill>
                <a:latin typeface="Inter"/>
              </a:rPr>
              <a:t>STAGE B   ·   EM  →  µCT  (already in CCF)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51960"/>
            <a:ext cx="2011680" cy="8686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2628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EEEEE"/>
                </a:solidFill>
                <a:latin typeface="Inter"/>
              </a:rPr>
              <a:t>sample_em.zarr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2519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45262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EEEEE"/>
                </a:solidFill>
                <a:latin typeface="Inter"/>
              </a:rPr>
              <a:t>init → prealign → refine →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EEEEE"/>
                </a:solidFill>
                <a:latin typeface="Inter"/>
              </a:rPr>
              <a:t>landmarks → alignFull --tps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425196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52628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EEEEE"/>
                </a:solidFill>
                <a:latin typeface="Inter"/>
              </a:rPr>
              <a:t>em_in_ccf.zarr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42519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101014"/>
          </a:solidFill>
          <a:ln w="15875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45262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A9AA6"/>
                </a:solidFill>
                <a:latin typeface="Inter"/>
              </a:rPr>
              <a:t>reference: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A9AA6"/>
                </a:solidFill>
                <a:latin typeface="Inter"/>
              </a:rPr>
              <a:t>uct_in_ccf.zarr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514600" y="4686300"/>
            <a:ext cx="274320" cy="0"/>
          </a:xfrm>
          <a:prstGeom prst="line">
            <a:avLst/>
          </a:prstGeom>
          <a:ln w="15875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46520" y="4686300"/>
            <a:ext cx="274320" cy="0"/>
          </a:xfrm>
          <a:prstGeom prst="line">
            <a:avLst/>
          </a:prstGeom>
          <a:ln w="15875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915400" y="4686300"/>
            <a:ext cx="274320" cy="0"/>
          </a:xfrm>
          <a:prstGeom prst="line">
            <a:avLst/>
          </a:prstGeom>
          <a:ln w="19050">
            <a:solidFill>
              <a:srgbClr val="FDD66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02920" y="5623560"/>
            <a:ext cx="11155680" cy="594360"/>
          </a:xfrm>
          <a:prstGeom prst="roundRect">
            <a:avLst>
              <a:gd name="adj" fmla="val 50000"/>
            </a:avLst>
          </a:prstGeom>
          <a:solidFill>
            <a:srgbClr val="24242C"/>
          </a:solidFill>
          <a:ln w="6350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EEEEE"/>
                </a:solidFill>
                <a:latin typeface="Inter"/>
              </a:rPr>
              <a:t>Both volumes end up in CCF coordinates — no custom multi-stage abstraction.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Data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Five invariants — true across modality and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If a feature breaks one of these, it is the wrong feature.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77724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777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8AB4FF"/>
                </a:solidFill>
                <a:latin typeface="Inter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874519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01167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EEEEE"/>
                </a:solidFill>
                <a:latin typeface="Inter"/>
              </a:rPr>
              <a:t>State is the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3171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6"/>
                </a:solidFill>
                <a:latin typeface="Inter"/>
              </a:rPr>
              <a:t>Every step reads and writes one state.json. Steps never talk to each other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19"/>
            <a:ext cx="77724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88919"/>
            <a:ext cx="777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8AB4FF"/>
                </a:solidFill>
                <a:latin typeface="Inter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788919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292607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EEEEE"/>
                </a:solidFill>
                <a:latin typeface="Inter"/>
              </a:rPr>
              <a:t>Reference is an abstraction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4611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6"/>
                </a:solidFill>
                <a:latin typeface="Inter"/>
              </a:rPr>
              <a:t>All steps consume Reference{array, voxel_um, name}. BrainGlobe atlas and OME-Zarr are just two loaders.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19"/>
            <a:ext cx="77724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03319"/>
            <a:ext cx="777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8AB4FF"/>
                </a:solidFill>
                <a:latin typeface="Inter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3703319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84047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EEEEE"/>
                </a:solidFill>
                <a:latin typeface="Inter"/>
              </a:rPr>
              <a:t>Display strided, warp chunked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6051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6"/>
                </a:solidFill>
                <a:latin typeface="Inter"/>
              </a:rPr>
              <a:t>Interactive napari uses ≤ 192³ preview. Production warp reads one chunk at a time. Full volumes never enter RAM.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617719"/>
            <a:ext cx="77724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19"/>
            <a:ext cx="777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8AB4FF"/>
                </a:solidFill>
                <a:latin typeface="Inter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617719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475487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EEEEE"/>
                </a:solidFill>
                <a:latin typeface="Inter"/>
              </a:rPr>
              <a:t>Units stay in µm throughout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07491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6"/>
                </a:solidFill>
                <a:latin typeface="Inter"/>
              </a:rPr>
              <a:t>EM at 4 nm is stored as 0.004 µm. No unit-tagging schema, no conversion layer.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32119"/>
            <a:ext cx="77724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32119"/>
            <a:ext cx="777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8AB4FF"/>
                </a:solidFill>
                <a:latin typeface="Inter"/>
              </a:rPr>
              <a:t>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5532119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566927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EEEEE"/>
                </a:solidFill>
                <a:latin typeface="Inter"/>
              </a:rPr>
              <a:t>One sample → one chain link → one state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989319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6"/>
                </a:solidFill>
                <a:latin typeface="Inter"/>
              </a:rPr>
              <a:t>Stage A and Stage B are two independent runs. The chain lives in --reference, not in the schema.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Design invariants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Reference abstraction — one interface, two loaders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Steps depend on a tiny dataclass. BrainGlobe atlas and OME-Zarr both populate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9AA6"/>
                </a:solidFill>
                <a:latin typeface="Inter"/>
              </a:rPr>
              <a:t>LOADERS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3200400" cy="12801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DD663"/>
                </a:solidFill>
                <a:latin typeface="Consolas"/>
              </a:rPr>
              <a:t>load_ccf(atlas_name)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6"/>
                </a:solidFill>
                <a:latin typeface="Inter"/>
              </a:rPr>
              <a:t>BrainGlobe atlas (current).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A9AA6"/>
                </a:solidFill>
                <a:latin typeface="Inter"/>
              </a:rPr>
              <a:t>Used when state.atlas_name is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49039"/>
            <a:ext cx="3200400" cy="12801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58AF9"/>
                </a:solidFill>
                <a:latin typeface="Consolas"/>
              </a:rPr>
              <a:t>load_zarr_reference(path)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AA6"/>
                </a:solidFill>
                <a:latin typeface="Inter"/>
              </a:rPr>
              <a:t>OME-Zarr volume (new).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A9AA6"/>
                </a:solidFill>
                <a:latin typeface="Inter"/>
              </a:rPr>
              <a:t>Used when state.reference_zarr is 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87451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9AA6"/>
                </a:solidFill>
                <a:latin typeface="Inter"/>
              </a:rPr>
              <a:t>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2860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24242C"/>
          </a:solidFill>
          <a:ln w="1905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423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B4FF"/>
                </a:solidFill>
                <a:latin typeface="Inter"/>
              </a:rPr>
              <a:t>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880360"/>
            <a:ext cx="2743200" cy="12700"/>
          </a:xfrm>
          <a:prstGeom prst="rect">
            <a:avLst/>
          </a:prstGeom>
          <a:solidFill>
            <a:srgbClr val="33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EEEEEE"/>
                </a:solidFill>
                <a:latin typeface="Consolas"/>
              </a:rPr>
              <a:t>array</a:t>
            </a:r>
            <a:r>
              <a:rPr sz="1200" b="0" i="0">
                <a:solidFill>
                  <a:srgbClr val="9A9AA6"/>
                </a:solidFill>
                <a:latin typeface="Inter"/>
              </a:rPr>
              <a:t>: ndarray (z, y, x)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EEEEEE"/>
                </a:solidFill>
                <a:latin typeface="Consolas"/>
              </a:rPr>
              <a:t>voxel_um</a:t>
            </a:r>
            <a:r>
              <a:rPr sz="1200" b="0" i="0">
                <a:solidFill>
                  <a:srgbClr val="9A9AA6"/>
                </a:solidFill>
                <a:latin typeface="Inter"/>
              </a:rPr>
              <a:t>: tuple[float, float, float]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EEEEEE"/>
                </a:solidFill>
                <a:latin typeface="Consolas"/>
              </a:rPr>
              <a:t>name</a:t>
            </a:r>
            <a:r>
              <a:rPr sz="1200" b="0" i="0">
                <a:solidFill>
                  <a:srgbClr val="9A9AA6"/>
                </a:solidFill>
                <a:latin typeface="Inter"/>
              </a:rPr>
              <a:t>: str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1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9AA6"/>
                </a:solidFill>
                <a:latin typeface="Inter"/>
              </a:rPr>
              <a:t>CONSUMERS  (6 one-line edits)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286000"/>
            <a:ext cx="3474720" cy="3657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EEEE"/>
                </a:solidFill>
                <a:latin typeface="Consolas"/>
              </a:rPr>
              <a:t>prealign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743200"/>
            <a:ext cx="3474720" cy="3657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74320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EEEE"/>
                </a:solidFill>
                <a:latin typeface="Consolas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00400"/>
            <a:ext cx="3474720" cy="3657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20040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EEEE"/>
                </a:solidFill>
                <a:latin typeface="Consolas"/>
              </a:rPr>
              <a:t>landmarks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657600"/>
            <a:ext cx="3474720" cy="3657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65760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EEEE"/>
                </a:solidFill>
                <a:latin typeface="Consolas"/>
              </a:rPr>
              <a:t>alignFull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114800"/>
            <a:ext cx="3474720" cy="3657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11480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EEEE"/>
                </a:solidFill>
                <a:latin typeface="Consolas"/>
              </a:rPr>
              <a:t>export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572000"/>
            <a:ext cx="3474720" cy="3657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57200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EEEE"/>
                </a:solidFill>
                <a:latin typeface="Consolas"/>
              </a:rPr>
              <a:t>alignFull --tps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03320" y="2926080"/>
            <a:ext cx="457200" cy="274320"/>
          </a:xfrm>
          <a:prstGeom prst="line">
            <a:avLst/>
          </a:prstGeom>
          <a:ln w="15875">
            <a:solidFill>
              <a:srgbClr val="FDD66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703320" y="4114800"/>
            <a:ext cx="457200" cy="274320"/>
          </a:xfrm>
          <a:prstGeom prst="line">
            <a:avLst/>
          </a:prstGeom>
          <a:ln w="15875">
            <a:solidFill>
              <a:srgbClr val="C58AF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18120" y="3657600"/>
            <a:ext cx="411480" cy="0"/>
          </a:xfrm>
          <a:prstGeom prst="line">
            <a:avLst/>
          </a:prstGeom>
          <a:ln w="15875">
            <a:solidFill>
              <a:srgbClr val="8AB4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1C995"/>
                </a:solidFill>
                <a:latin typeface="Inter"/>
              </a:rPr>
              <a:t>Six 1-line edits in the step files. No step logic changes.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Reference abstraction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Two paths through the data — display and warp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Both bounded in RAM. Different mechanisms because they have different jobs.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532120" cy="47548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B4FF"/>
                </a:solidFill>
                <a:latin typeface="Inter"/>
              </a:rPr>
              <a:t>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532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EEEEE"/>
                </a:solidFill>
                <a:latin typeface="Inter"/>
              </a:rPr>
              <a:t>prealign  ·  refine  ·  landmarks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834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Job.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interactive picking — must be responsive.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Loads.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one strided preview, ≤ 192³ voxels.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RAM.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~30 MB regardless of source size.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Trade-off.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loses high-frequency detail.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Mitigation.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rigid + TPS captures the gross alignment; deformable refinement runs later on full resolution.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F28B82"/>
                </a:solidFill>
                <a:latin typeface="Inter"/>
              </a:rPr>
              <a:t>Change needed.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hardcoded 192³ → </a:t>
            </a:r>
            <a:r>
              <a:rPr sz="1300" b="0" i="0">
                <a:solidFill>
                  <a:srgbClr val="EEEEEE"/>
                </a:solidFill>
                <a:latin typeface="Consolas"/>
              </a:rPr>
              <a:t>--preview-size N</a:t>
            </a:r>
            <a:r>
              <a:rPr sz="1300" b="0" i="0">
                <a:solidFill>
                  <a:srgbClr val="EEEEEE"/>
                </a:solidFill>
                <a:latin typeface="Inter"/>
              </a:rPr>
              <a:t> so EM users can override.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532120" cy="47548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1C995"/>
                </a:solidFill>
                <a:latin typeface="Inter"/>
              </a:rPr>
              <a:t>WARP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5532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EEEEE"/>
                </a:solidFill>
                <a:latin typeface="Inter"/>
              </a:rPr>
              <a:t>alignFull (production)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63240"/>
            <a:ext cx="49834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1C995"/>
                </a:solidFill>
                <a:latin typeface="Inter"/>
              </a:rPr>
              <a:t>Job.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produce the final aligned volume — must be exact.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1C995"/>
                </a:solidFill>
                <a:latin typeface="Inter"/>
              </a:rPr>
              <a:t>Loads.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one output chunk's source-bbox at a time.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1C995"/>
                </a:solidFill>
                <a:latin typeface="Inter"/>
              </a:rPr>
              <a:t>RAM.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bounded per worker  =  chunk × rotation overhead.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1C995"/>
                </a:solidFill>
                <a:latin typeface="Inter"/>
              </a:rPr>
              <a:t>Parallelism.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chunks dispatched via ThreadPoolExecutor.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81C995"/>
                </a:solidFill>
                <a:latin typeface="Inter"/>
              </a:rPr>
              <a:t>Already proven.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see align_full.py docstring — bypasses dask graph for TB inputs.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1" i="0">
                <a:solidFill>
                  <a:srgbClr val="F28B82"/>
                </a:solidFill>
                <a:latin typeface="Inter"/>
              </a:rPr>
              <a:t>Change needed.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rigid-only → compose TPS (Step 3) and B-spline (Step 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Display vs. 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Transform composition — the extensibility hinge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Each refinement step adds one component. warp_chunk walks the composition once per chunk.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21945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Source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voxels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65176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651760"/>
            <a:ext cx="2011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Rigid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840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4242C"/>
          </a:solidFill>
          <a:ln w="9525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81C995"/>
                </a:solidFill>
                <a:latin typeface="Inter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65176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651760"/>
            <a:ext cx="2011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TPS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(landmarks)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3840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4242C"/>
          </a:solidFill>
          <a:ln w="9525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8AB4FF"/>
                </a:solidFill>
                <a:latin typeface="Inter"/>
              </a:rPr>
              <a:t>Step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65176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651760"/>
            <a:ext cx="2011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B-spline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(elastix / ANTs)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840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4242C"/>
          </a:solidFill>
          <a:ln w="9525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F28B82"/>
                </a:solidFill>
                <a:latin typeface="Inter"/>
              </a:rPr>
              <a:t>Step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2651760"/>
            <a:ext cx="2194560" cy="10972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651760"/>
            <a:ext cx="21945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Reference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voxels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14600" y="3200400"/>
            <a:ext cx="182880" cy="0"/>
          </a:xfrm>
          <a:prstGeom prst="line">
            <a:avLst/>
          </a:prstGeom>
          <a:ln w="15875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09160" y="3200400"/>
            <a:ext cx="182880" cy="0"/>
          </a:xfrm>
          <a:prstGeom prst="line">
            <a:avLst/>
          </a:prstGeom>
          <a:ln w="15875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03720" y="3200400"/>
            <a:ext cx="182880" cy="0"/>
          </a:xfrm>
          <a:prstGeom prst="line">
            <a:avLst/>
          </a:prstGeom>
          <a:ln w="15875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98280" y="3200400"/>
            <a:ext cx="320040" cy="0"/>
          </a:xfrm>
          <a:prstGeom prst="line">
            <a:avLst/>
          </a:prstGeom>
          <a:ln w="19050">
            <a:solidFill>
              <a:srgbClr val="FDD66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" y="4434840"/>
            <a:ext cx="11155680" cy="1874519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106984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Interface.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Each component answers one question: given a reference voxel coordinate, return the source voxel coordinate.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Per-chunk loop.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warp_chunk applies the full composition once: chunk's reference grid → Rigid⁻¹ → TPS⁻¹ → B-spline⁻¹ → source sampling.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1" i="0">
                <a:solidFill>
                  <a:srgbClr val="8AB4FF"/>
                </a:solidFill>
                <a:latin typeface="Inter"/>
              </a:rPr>
              <a:t>Independently optional.  </a:t>
            </a:r>
            <a:r>
              <a:rPr sz="1300" b="0" i="0">
                <a:solidFill>
                  <a:srgbClr val="EEEEEE"/>
                </a:solidFill>
                <a:latin typeface="Inter"/>
              </a:rPr>
              <a:t>adding deformable does not refactor the rigid + TPS path. Each component is one method on a Transform class.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Transform composition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End-to-end data flow with state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What lives on disk between commands.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532120" cy="48463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5532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B4FF"/>
                </a:solidFill>
                <a:latin typeface="Inter"/>
              </a:rPr>
              <a:t>STAGE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EEEEE"/>
                </a:solidFill>
                <a:latin typeface="Inter"/>
              </a:rPr>
              <a:t>µCT → Allen CCF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498348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EEEEEE"/>
                </a:solidFill>
                <a:latin typeface="Consolas"/>
              </a:rPr>
              <a:t>1.  vol2atlas init</a:t>
            </a:r>
            <a:r>
              <a:rPr sz="1100" b="0" i="0">
                <a:solidFill>
                  <a:srgbClr val="EEEEEE"/>
                </a:solidFill>
                <a:latin typeface="Consolas"/>
              </a:rPr>
              <a:t>  sample_uct.zarr  -s state_uct.json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900" b="0" i="0">
                <a:solidFill>
                  <a:srgbClr val="9A9AA6"/>
                </a:solidFill>
                <a:latin typeface="Consolas"/>
              </a:rPr>
              <a:t>        writes   state_uct.json   </a:t>
            </a:r>
            <a:r>
              <a:rPr sz="900" b="0" i="1">
                <a:solidFill>
                  <a:srgbClr val="9A9AA6"/>
                </a:solidFill>
                <a:latin typeface="Consolas"/>
              </a:rPr>
              <a:t>{sample_zarr, voxel_um, atlas_name}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EEEEEE"/>
                </a:solidFill>
                <a:latin typeface="Consolas"/>
              </a:rPr>
              <a:t>2.  vol2atlas prealign / refine / landmarks</a:t>
            </a:r>
            <a:r>
              <a:rPr sz="1100" b="0" i="0">
                <a:solidFill>
                  <a:srgbClr val="EEEEEE"/>
                </a:solidFill>
                <a:latin typeface="Consolas"/>
              </a:rPr>
              <a:t>  state_uct.json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900" b="0" i="0">
                <a:solidFill>
                  <a:srgbClr val="9A9AA6"/>
                </a:solidFill>
                <a:latin typeface="Consolas"/>
              </a:rPr>
              <a:t>        updates  state_uct.json   </a:t>
            </a:r>
            <a:r>
              <a:rPr sz="900" b="0" i="1">
                <a:solidFill>
                  <a:srgbClr val="9A9AA6"/>
                </a:solidFill>
                <a:latin typeface="Consolas"/>
              </a:rPr>
              <a:t>{transform, landmarks, ccf_crop_bbox}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EEEEEE"/>
                </a:solidFill>
                <a:latin typeface="Consolas"/>
              </a:rPr>
              <a:t>3.  vol2atlas alignFull</a:t>
            </a:r>
            <a:r>
              <a:rPr sz="1100" b="0" i="0">
                <a:solidFill>
                  <a:srgbClr val="EEEEEE"/>
                </a:solidFill>
                <a:latin typeface="Consolas"/>
              </a:rPr>
              <a:t>  state_uct.json  -o out/uct_in_ccf.zarr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FDD663"/>
                </a:solidFill>
                <a:latin typeface="Consolas"/>
              </a:rPr>
              <a:t>        writes   uct_in_ccf.zarr   </a:t>
            </a:r>
            <a:r>
              <a:rPr sz="900" b="0" i="1">
                <a:solidFill>
                  <a:srgbClr val="9A9AA6"/>
                </a:solidFill>
                <a:latin typeface="Consolas"/>
              </a:rPr>
              <a:t>(chunked, CCF voxel grid)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532120" cy="48463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5532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58AF9"/>
                </a:solidFill>
                <a:latin typeface="Inter"/>
              </a:rPr>
              <a:t>STAGE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EEEEE"/>
                </a:solidFill>
                <a:latin typeface="Inter"/>
              </a:rPr>
              <a:t>EM → µCT (already in CCF)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498348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EEEEEE"/>
                </a:solidFill>
                <a:latin typeface="Consolas"/>
              </a:rPr>
              <a:t>1.  vol2atlas init  sample_em.zarr  -s state_em.json  \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EEEEEE"/>
                </a:solidFill>
                <a:latin typeface="Consolas"/>
              </a:rPr>
              <a:t>           --reference out/uct_in_ccf.zarr  --voxel-um 0.004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900" b="0" i="0">
                <a:solidFill>
                  <a:srgbClr val="9A9AA6"/>
                </a:solidFill>
                <a:latin typeface="Consolas"/>
              </a:rPr>
              <a:t>        writes   state_em.json   </a:t>
            </a:r>
            <a:r>
              <a:rPr sz="900" b="0" i="1">
                <a:solidFill>
                  <a:srgbClr val="9A9AA6"/>
                </a:solidFill>
                <a:latin typeface="Consolas"/>
              </a:rPr>
              <a:t>{sample_zarr, voxel_um, reference_zarr}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EEEEEE"/>
                </a:solidFill>
                <a:latin typeface="Consolas"/>
              </a:rPr>
              <a:t>2.  vol2atlas prealign / refine / landmarks</a:t>
            </a:r>
            <a:r>
              <a:rPr sz="1100" b="0" i="0">
                <a:solidFill>
                  <a:srgbClr val="EEEEEE"/>
                </a:solidFill>
                <a:latin typeface="Consolas"/>
              </a:rPr>
              <a:t>  state_em.json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900" b="0" i="0">
                <a:solidFill>
                  <a:srgbClr val="9A9AA6"/>
                </a:solidFill>
                <a:latin typeface="Consolas"/>
              </a:rPr>
              <a:t>        updates  state_em.json   </a:t>
            </a:r>
            <a:r>
              <a:rPr sz="900" b="0" i="1">
                <a:solidFill>
                  <a:srgbClr val="9A9AA6"/>
                </a:solidFill>
                <a:latin typeface="Consolas"/>
              </a:rPr>
              <a:t>{transform, landmarks}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EEEEEE"/>
                </a:solidFill>
                <a:latin typeface="Consolas"/>
              </a:rPr>
              <a:t>3.  vol2atlas alignFull --tps</a:t>
            </a:r>
            <a:r>
              <a:rPr sz="1100" b="0" i="0">
                <a:solidFill>
                  <a:srgbClr val="EEEEEE"/>
                </a:solidFill>
                <a:latin typeface="Consolas"/>
              </a:rPr>
              <a:t>  state_em.json  -o out/em_in_ccf.zarr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C58AF9"/>
                </a:solidFill>
                <a:latin typeface="Consolas"/>
              </a:rPr>
              <a:t>        writes   em_in_ccf.zarr   </a:t>
            </a:r>
            <a:r>
              <a:rPr sz="900" b="0" i="1">
                <a:solidFill>
                  <a:srgbClr val="9A9AA6"/>
                </a:solidFill>
                <a:latin typeface="Consolas"/>
              </a:rPr>
              <a:t>(chunked, CCF voxel grid)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CLI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What this strategy explicitly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Anti-scope. Naming each is as important as the things we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603504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8B82"/>
                </a:solidFill>
                <a:latin typeface="Inter"/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No unit-tagging in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4884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9AA6"/>
                </a:solidFill>
                <a:latin typeface="Inte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920240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voxel_unit: 'nm'|'um' is a footgun that propagates checks everywhere. Float µm is sufficient.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87168"/>
            <a:ext cx="11155680" cy="603504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87168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8B82"/>
                </a:solidFill>
                <a:latin typeface="Inter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7860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No hardcoded UI thresholds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0720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9AA6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578608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Slider step, preview size, landmark dot size all derive from sample_voxel_um. Remove 50.0 and 192³ constants.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45536"/>
            <a:ext cx="11155680" cy="603504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45536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8B82"/>
                </a:solidFill>
                <a:latin typeface="Inter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36976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No deformable registration on TB volumes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465576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9AA6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236976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elastix / ANTs run on a downsampled GB-level. The B-spline result composes into the chunkwise warp.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03904"/>
            <a:ext cx="11155680" cy="603504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03904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8B82"/>
                </a:solidFill>
                <a:latin typeface="Inter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95344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No nm-precision landmark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2394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9AA6"/>
                </a:solidFill>
                <a:latin typeface="Inter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895344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Landmarks pin the rigid + coarse warp. nm precision comes from deformable refinement, not the picker.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62272"/>
            <a:ext cx="11155680" cy="603504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62272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8B82"/>
                </a:solidFill>
                <a:latin typeface="Inter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5371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No intra-stack EM section assembly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7823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9AA6"/>
                </a:solidFill>
                <a:latin typeface="Inter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553712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Input must already be a 3D OME-Zarr. Section assembly is a different problem — TrakEM2 / ASAP / render-python.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20640"/>
            <a:ext cx="11155680" cy="603504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20640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8B82"/>
                </a:solidFill>
                <a:latin typeface="Inter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1208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No two-stage abstraction in state.json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44068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9AA6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5212080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Two stages = two independent runs. Chaining lives in --reference, not in the schema.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779008"/>
            <a:ext cx="11155680" cy="603504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779008"/>
            <a:ext cx="365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8B82"/>
                </a:solidFill>
                <a:latin typeface="Inter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87044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No brainreg path for 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60990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9AA6"/>
                </a:solidFill>
                <a:latin typeface="Inter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5870448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brainreg requires a BrainGlobe atlas name. The brainreg subcommand errors cleanly when reference_zarr is set.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Anti-scope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Four steps. Each independently shippable and usable.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10332720" cy="25400"/>
          </a:xfrm>
          <a:prstGeom prst="rect">
            <a:avLst/>
          </a:prstGeom>
          <a:solidFill>
            <a:srgbClr val="33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3355848"/>
            <a:ext cx="292608" cy="292608"/>
          </a:xfrm>
          <a:prstGeom prst="ellipse">
            <a:avLst/>
          </a:prstGeom>
          <a:solidFill>
            <a:srgbClr val="81C995"/>
          </a:solidFill>
          <a:ln w="31750">
            <a:solidFill>
              <a:srgbClr val="101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1C995"/>
                </a:solidFill>
                <a:latin typeface="Inter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48840"/>
            <a:ext cx="2743200" cy="11430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Reference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abstraction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40480"/>
            <a:ext cx="2743200" cy="21031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50208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load_reference + Reference dataclass.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Six 1-line edits across step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EEEE"/>
                </a:solidFill>
                <a:latin typeface="Inter"/>
              </a:rPr>
              <a:t>Enables Stage B with rigid at any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81C995"/>
                </a:solidFill>
                <a:latin typeface="Inter"/>
              </a:rPr>
              <a:t>→ Smallest change · highest leverage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3355848"/>
            <a:ext cx="292608" cy="292608"/>
          </a:xfrm>
          <a:prstGeom prst="ellipse">
            <a:avLst/>
          </a:prstGeom>
          <a:solidFill>
            <a:srgbClr val="81C995"/>
          </a:solidFill>
          <a:ln w="31750">
            <a:solidFill>
              <a:srgbClr val="101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1C995"/>
                </a:solidFill>
                <a:latin typeface="Inter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148840"/>
            <a:ext cx="2743200" cy="11430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28600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Voxel-size-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aware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840480"/>
            <a:ext cx="2743200" cy="21031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950208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Sliders derive step from sample_voxel_um.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--preview-size flag for prealign/refine/landmarks.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9377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EEEE"/>
                </a:solidFill>
                <a:latin typeface="Inter"/>
              </a:rPr>
              <a:t>Makes the UI usable on EM. No schema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3949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81C995"/>
                </a:solidFill>
                <a:latin typeface="Inter"/>
              </a:rPr>
              <a:t>→ Pure UI change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0" y="3355848"/>
            <a:ext cx="292608" cy="292608"/>
          </a:xfrm>
          <a:prstGeom prst="ellipse">
            <a:avLst/>
          </a:prstGeom>
          <a:solidFill>
            <a:srgbClr val="8AB4FF"/>
          </a:solidFill>
          <a:ln w="31750">
            <a:solidFill>
              <a:srgbClr val="101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783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B4FF"/>
                </a:solidFill>
                <a:latin typeface="Inter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148840"/>
            <a:ext cx="2743200" cy="11430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28600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alignFull --tps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3840480"/>
            <a:ext cx="2743200" cy="21031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950208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Extend _warp_one_chunk to compose landmark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TPS displacement per chunk. ~50 LOC.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9377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EEEE"/>
                </a:solidFill>
                <a:latin typeface="Inter"/>
              </a:rPr>
              <a:t>Production EM path at TB scale.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3949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8AB4FF"/>
                </a:solidFill>
                <a:latin typeface="Inter"/>
              </a:rPr>
              <a:t>→ TPS parity with export</a:t>
            </a:r>
          </a:p>
        </p:txBody>
      </p:sp>
      <p:sp>
        <p:nvSpPr>
          <p:cNvPr id="31" name="Oval 30"/>
          <p:cNvSpPr/>
          <p:nvPr/>
        </p:nvSpPr>
        <p:spPr>
          <a:xfrm>
            <a:off x="10058400" y="3355848"/>
            <a:ext cx="292608" cy="292608"/>
          </a:xfrm>
          <a:prstGeom prst="ellipse">
            <a:avLst/>
          </a:prstGeom>
          <a:solidFill>
            <a:srgbClr val="F28B82"/>
          </a:solidFill>
          <a:ln w="31750">
            <a:solidFill>
              <a:srgbClr val="101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1783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8B82"/>
                </a:solidFill>
                <a:latin typeface="Inter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2148840"/>
            <a:ext cx="2743200" cy="11430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228600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alignFull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EEEE"/>
                </a:solidFill>
                <a:latin typeface="Inter"/>
              </a:rPr>
              <a:t>--bspline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840480"/>
            <a:ext cx="2743200" cy="21031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9525">
            <a:solidFill>
              <a:srgbClr val="33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3950208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Compose elastix / ANTs B-spline output into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9AA6"/>
                </a:solidFill>
                <a:latin typeface="Inter"/>
              </a:rPr>
              <a:t>the chunkwise warp.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9377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EEEE"/>
                </a:solidFill>
                <a:latin typeface="Inter"/>
              </a:rPr>
              <a:t>Unlocks nm-precision deformable refinement.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53949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F28B82"/>
                </a:solidFill>
                <a:latin typeface="Inter"/>
              </a:rPr>
              <a:t>→ Separate PR — depends on 1-3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EEEE"/>
                </a:solidFill>
                <a:latin typeface="Inter"/>
              </a:rPr>
              <a:t>Summary  ·  one pipeline, every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Three architectural moves unlock EM at TB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91440" cy="1188720"/>
          </a:xfrm>
          <a:prstGeom prst="rect">
            <a:avLst/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EEEEE"/>
                </a:solidFill>
                <a:latin typeface="Inter"/>
              </a:rPr>
              <a:t>Generalize the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9AA6"/>
                </a:solidFill>
                <a:latin typeface="Inter"/>
              </a:rPr>
              <a:t>BrainGlobe atlas and OME-Zarr behind one Reference interface. Six 1-line 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756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337560"/>
            <a:ext cx="91440" cy="1188720"/>
          </a:xfrm>
          <a:prstGeom prst="rect">
            <a:avLst/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EEEEE"/>
                </a:solidFill>
                <a:latin typeface="Inter"/>
              </a:rPr>
              <a:t>Derive UI from voxel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9AA6"/>
                </a:solidFill>
                <a:latin typeface="Inter"/>
              </a:rPr>
              <a:t>Slider step, preview stride, landmark size all scale with sample_voxel_um.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709160"/>
            <a:ext cx="91440" cy="118872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EEEEE"/>
                </a:solidFill>
                <a:latin typeface="Inter"/>
              </a:rPr>
              <a:t>Compose the 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9AA6"/>
                </a:solidFill>
                <a:latin typeface="Inter"/>
              </a:rPr>
              <a:t>alignFull walks Rigid ∘ TPS ∘ B-spline per chunk. RAM bounded; no whole-volume load.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97880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24242C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897880"/>
            <a:ext cx="11155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EM lands in CCF coordinates through the same CLI as µCT, with no TB-scale RAM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