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EEEEEE"/>
                </a:solidFill>
                <a:latin typeface="Inter"/>
              </a:rPr>
              <a:t>Stage A  ·  µCT  →  Allen CCF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A9AA6"/>
                </a:solidFill>
                <a:latin typeface="Inter"/>
              </a:rPr>
              <a:t>Working today — tested on real µCT. Rigid + optional landmark TPS is solid; the deformable refiners are wrappers with known limits.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594360" cy="31750"/>
          </a:xfrm>
          <a:prstGeom prst="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8AB4FF"/>
                </a:solidFill>
                <a:latin typeface="Inter"/>
              </a:rPr>
              <a:t>INPUT  µCT OME-Zarr (µm voxels, GB scale)   →   REFERENCE  BrainGlobe Allen CCF   →   OUTPUT  warped sample on the CCF voxel grid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2084832" cy="77724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20848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EEEEE"/>
                </a:solidFill>
                <a:latin typeface="Inter"/>
              </a:rPr>
              <a:t>init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87752" y="2537460"/>
            <a:ext cx="182880" cy="0"/>
          </a:xfrm>
          <a:prstGeom prst="line">
            <a:avLst/>
          </a:prstGeom>
          <a:ln w="19050">
            <a:solidFill>
              <a:srgbClr val="9A9AA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70632" y="2148840"/>
            <a:ext cx="2084832" cy="77724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2148840"/>
            <a:ext cx="20848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EEEEE"/>
                </a:solidFill>
                <a:latin typeface="Inter"/>
              </a:rPr>
              <a:t>prealign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55464" y="2537460"/>
            <a:ext cx="182880" cy="0"/>
          </a:xfrm>
          <a:prstGeom prst="line">
            <a:avLst/>
          </a:prstGeom>
          <a:ln w="19050">
            <a:solidFill>
              <a:srgbClr val="9A9AA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38344" y="2148840"/>
            <a:ext cx="2084832" cy="77724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8344" y="2148840"/>
            <a:ext cx="20848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EEEEE"/>
                </a:solidFill>
                <a:latin typeface="Inter"/>
              </a:rPr>
              <a:t>refine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23176" y="2537460"/>
            <a:ext cx="182880" cy="0"/>
          </a:xfrm>
          <a:prstGeom prst="line">
            <a:avLst/>
          </a:prstGeom>
          <a:ln w="19050">
            <a:solidFill>
              <a:srgbClr val="9A9AA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06056" y="2148840"/>
            <a:ext cx="2084832" cy="77724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06056" y="2148840"/>
            <a:ext cx="20848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EEEEE"/>
                </a:solidFill>
                <a:latin typeface="Inter"/>
              </a:rPr>
              <a:t>landmarks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90888" y="2537460"/>
            <a:ext cx="182880" cy="0"/>
          </a:xfrm>
          <a:prstGeom prst="line">
            <a:avLst/>
          </a:prstGeom>
          <a:ln w="19050">
            <a:solidFill>
              <a:srgbClr val="9A9AA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573768" y="2148840"/>
            <a:ext cx="2084832" cy="77724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3768" y="2148840"/>
            <a:ext cx="20848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EEEEE"/>
                </a:solidFill>
                <a:latin typeface="Inter"/>
              </a:rPr>
              <a:t>alignFull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017520"/>
            <a:ext cx="5532120" cy="338328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20040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8AB4FF"/>
                </a:solidFill>
                <a:latin typeface="Inter"/>
              </a:rPr>
              <a:t>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66160"/>
            <a:ext cx="498348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8AB4FF"/>
                </a:solidFill>
                <a:latin typeface="Inter"/>
              </a:rPr>
              <a:t>Reference.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Allen CCF via BrainGlobe (atlas_name).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8AB4FF"/>
                </a:solidFill>
                <a:latin typeface="Inter"/>
              </a:rPr>
              <a:t>Display.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napari MIP, strided preview ≤ 192³ — RAM bounded regardless of source size.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8AB4FF"/>
                </a:solidFill>
                <a:latin typeface="Inter"/>
              </a:rPr>
              <a:t>Rigid pose.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6 sliders (3 translations µm, 3 rotations °) + axis-flip checkboxes; live resample onto CCF grid.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8AB4FF"/>
                </a:solidFill>
                <a:latin typeface="Inter"/>
              </a:rPr>
              <a:t>Crop ROI.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6 min/max sliders crop the CCF to a bbox around the sample.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8AB4FF"/>
                </a:solidFill>
                <a:latin typeface="Inter"/>
              </a:rPr>
              <a:t>Refine.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±3 mm / ±30° in axial / coronal / sagittal ortho views.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8AB4FF"/>
                </a:solidFill>
                <a:latin typeface="Inter"/>
              </a:rPr>
              <a:t>Landmarks.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optional Procrustes / Kabsch refit on ≥3 paired clicks.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8AB4FF"/>
                </a:solidFill>
                <a:latin typeface="Inter"/>
              </a:rPr>
              <a:t>Production warp.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alignFull warps the full OME-Zarr at every pyramid level, one output chunk at a time via dask_image.ndinterp.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017520"/>
            <a:ext cx="5532120" cy="338328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20040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81C995"/>
                </a:solidFill>
                <a:latin typeface="Inter"/>
              </a:rPr>
              <a:t>STATE &amp; MATH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66160"/>
            <a:ext cx="498348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81C995"/>
                </a:solidFill>
                <a:latin typeface="Inter"/>
              </a:rPr>
              <a:t>Coords.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everything in (z, y, x) µm. No unit-tagging schema.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81C995"/>
                </a:solidFill>
                <a:latin typeface="Inter"/>
              </a:rPr>
              <a:t>Rigid.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output_µm = R · F · (input_µm − c) + c + t,  with R = intrinsic ZYX Euler, F = ±1 axis flips, c = sample center, t = translation.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81C995"/>
                </a:solidFill>
                <a:latin typeface="Inter"/>
              </a:rPr>
              <a:t>Optional TPS.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thin-plate spline on the residuals between rigid prediction and landmark clicks; vanishes far from landmarks → rigid preserved.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81C995"/>
                </a:solidFill>
                <a:latin typeface="Inter"/>
              </a:rPr>
              <a:t>State file.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one state.json per stage: {sample_zarr, voxel_um, sample_level, atlas_name, transform, landmarks, ccf_crop_bbox, history}. Resume any step.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81C995"/>
                </a:solidFill>
                <a:latin typeface="Inter"/>
              </a:rPr>
              <a:t>Output.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uct_in_ccf.zarr — multiscale OME-Zarr, chunked, CCF voxel grid. Used directly as Stage B's reference.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A9AA6"/>
                </a:solidFill>
                <a:latin typeface="Inter"/>
              </a:rPr>
              <a:t>Stage A — µCT to CCF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196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A9AA6"/>
                </a:solidFill>
                <a:latin typeface="Inter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EEEEEE"/>
                </a:solidFill>
                <a:latin typeface="Inter"/>
              </a:rPr>
              <a:t>Stage B  ·  EM  →  aligned µCT  (proposed)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28B82"/>
                </a:solidFill>
                <a:latin typeface="Inter"/>
              </a:rPr>
              <a:t>Roadmap — not yet implemented and not yet tested on EM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594360" cy="31750"/>
          </a:xfrm>
          <a:prstGeom prst="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11155680" cy="411480"/>
          </a:xfrm>
          <a:prstGeom prst="roundRect">
            <a:avLst>
              <a:gd name="adj" fmla="val 6000"/>
            </a:avLst>
          </a:prstGeom>
          <a:solidFill>
            <a:srgbClr val="24242C"/>
          </a:solidFill>
          <a:ln w="12700">
            <a:solidFill>
              <a:srgbClr val="F2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11155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28B82"/>
                </a:solidFill>
                <a:latin typeface="Inter"/>
              </a:rPr>
              <a:t>⚠  ROADMAP  —  --reference, alignFull --tps, voxel-aware UI all unmerged. No EM volume has been run through this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58AF9"/>
                </a:solidFill>
                <a:latin typeface="Inter"/>
              </a:rPr>
              <a:t>PROPOSED INPUT  EM OME-Zarr (nm voxels, TB scale)   →   PROPOSED REFERENCE  uct_in_ccf.zarr   →   PROPOSED OUTPUT  warped EM on the CCF voxel grid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06040"/>
            <a:ext cx="2084832" cy="68580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C5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208483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EEEEE"/>
                </a:solidFill>
                <a:latin typeface="Inter"/>
              </a:rPr>
              <a:t>init --reference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87752" y="2948940"/>
            <a:ext cx="182880" cy="0"/>
          </a:xfrm>
          <a:prstGeom prst="line">
            <a:avLst/>
          </a:prstGeom>
          <a:ln w="19050">
            <a:solidFill>
              <a:srgbClr val="C58AF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70632" y="2606040"/>
            <a:ext cx="2084832" cy="68580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0632" y="2606040"/>
            <a:ext cx="208483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EEEEE"/>
                </a:solidFill>
                <a:latin typeface="Inter"/>
              </a:rPr>
              <a:t>prealign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55464" y="2948940"/>
            <a:ext cx="182880" cy="0"/>
          </a:xfrm>
          <a:prstGeom prst="line">
            <a:avLst/>
          </a:prstGeom>
          <a:ln w="19050">
            <a:solidFill>
              <a:srgbClr val="C58AF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38344" y="2606040"/>
            <a:ext cx="2084832" cy="68580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8344" y="2606040"/>
            <a:ext cx="208483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EEEEE"/>
                </a:solidFill>
                <a:latin typeface="Inter"/>
              </a:rPr>
              <a:t>refine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23176" y="2948940"/>
            <a:ext cx="182880" cy="0"/>
          </a:xfrm>
          <a:prstGeom prst="line">
            <a:avLst/>
          </a:prstGeom>
          <a:ln w="19050">
            <a:solidFill>
              <a:srgbClr val="C58AF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06056" y="2606040"/>
            <a:ext cx="2084832" cy="68580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6056" y="2606040"/>
            <a:ext cx="208483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EEEEE"/>
                </a:solidFill>
                <a:latin typeface="Inter"/>
              </a:rPr>
              <a:t>landmarks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90888" y="2948940"/>
            <a:ext cx="182880" cy="0"/>
          </a:xfrm>
          <a:prstGeom prst="line">
            <a:avLst/>
          </a:prstGeom>
          <a:ln w="19050">
            <a:solidFill>
              <a:srgbClr val="C58AF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73768" y="2606040"/>
            <a:ext cx="2084832" cy="68580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875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73768" y="2606040"/>
            <a:ext cx="208483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EEEEE"/>
                </a:solidFill>
                <a:latin typeface="Inter"/>
              </a:rPr>
              <a:t>alignFull --tps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429000"/>
            <a:ext cx="5532120" cy="297180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C5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8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58AF9"/>
                </a:solidFill>
                <a:latin typeface="Inter"/>
              </a:rPr>
              <a:t>WHAT WOULD CHANGE vs STAGE A  (to be built)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977640"/>
            <a:ext cx="49834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 i="0">
                <a:solidFill>
                  <a:srgbClr val="C58AF9"/>
                </a:solidFill>
                <a:latin typeface="Inter"/>
              </a:rPr>
              <a:t>Reference loader.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add load_zarr_reference(path) alongside load_ccf. ~6 one-line edits.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 i="0">
                <a:solidFill>
                  <a:srgbClr val="C58AF9"/>
                </a:solidFill>
                <a:latin typeface="Inter"/>
              </a:rPr>
              <a:t>Voxel scale.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4 nm stored as 0.004 µm. No unit conversion.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 i="0">
                <a:solidFill>
                  <a:srgbClr val="C58AF9"/>
                </a:solidFill>
                <a:latin typeface="Inter"/>
              </a:rPr>
              <a:t>UI scaling.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slider step, preview stride, landmark marker size derive from sample_voxel_um.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 i="0">
                <a:solidFill>
                  <a:srgbClr val="C58AF9"/>
                </a:solidFill>
                <a:latin typeface="Inter"/>
              </a:rPr>
              <a:t>Warp composition.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alignFull --tps composes Rigid ∘ TPS per chunk. B-spline plugs in later.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429000"/>
            <a:ext cx="5532120" cy="297180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27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61188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81C995"/>
                </a:solidFill>
                <a:latin typeface="Inter"/>
              </a:rPr>
              <a:t>DESIGN TARGET  (reuses Stage A engine — proven on µCT)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977640"/>
            <a:ext cx="49834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 i="0">
                <a:solidFill>
                  <a:srgbClr val="81C995"/>
                </a:solidFill>
                <a:latin typeface="Inter"/>
              </a:rPr>
              <a:t>RAM bound (proven on µCT).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warp reads one output chunk's source-bbox at a time.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 i="0">
                <a:solidFill>
                  <a:srgbClr val="81C995"/>
                </a:solidFill>
                <a:latin typeface="Inter"/>
              </a:rPr>
              <a:t>Parallelism (proven on µCT).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chunks via ThreadPoolExecutor; bypasses dask graph build.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 i="0">
                <a:solidFill>
                  <a:srgbClr val="81C995"/>
                </a:solidFill>
                <a:latin typeface="Inter"/>
              </a:rPr>
              <a:t>State (designed).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state_em.json adds reference_zarr. state_uct.json unchanged.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 i="0">
                <a:solidFill>
                  <a:srgbClr val="F28B82"/>
                </a:solidFill>
                <a:latin typeface="Inter"/>
              </a:rPr>
              <a:t>Open risks.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nm-scale slider/click ergonomics, OME-Zarr level-selection on TB inputs, TPS conditioning on nm landmark spreads — all untested.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 i="0">
                <a:solidFill>
                  <a:srgbClr val="F28B82"/>
                </a:solidFill>
                <a:latin typeface="Inter"/>
              </a:rPr>
              <a:t>Out of scope.  </a:t>
            </a:r>
            <a:r>
              <a:rPr sz="1100" b="0" i="0">
                <a:solidFill>
                  <a:srgbClr val="EEEEEE"/>
                </a:solidFill>
                <a:latin typeface="Inter"/>
              </a:rPr>
              <a:t>EM section assembly (TrakEM2 / render-python).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A9AA6"/>
                </a:solidFill>
                <a:latin typeface="Inter"/>
              </a:rPr>
              <a:t>Stage B — EM to aligned µCT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196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A9AA6"/>
                </a:solidFill>
                <a:latin typeface="Inter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